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58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01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94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132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30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20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95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87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29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05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795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0457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57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6181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38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735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10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E2B3C46-9969-453C-8ED5-4991787C704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A5D00B5-C291-4BE7-B1DB-35F54FEE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0360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  <p:sldLayoutId id="214748382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72C95-DBBC-2B2C-C2B2-69D6A7743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348342"/>
            <a:ext cx="8915399" cy="249282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Relational Database Design &amp; Implementation for an Online Retail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5A1B6-3E8C-F520-BFD2-ECE085908C73}"/>
              </a:ext>
            </a:extLst>
          </p:cNvPr>
          <p:cNvSpPr txBox="1"/>
          <p:nvPr/>
        </p:nvSpPr>
        <p:spPr>
          <a:xfrm>
            <a:off x="1575707" y="4593772"/>
            <a:ext cx="90405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Core Deliverables</a:t>
            </a:r>
            <a:r>
              <a:rPr lang="en-IN" sz="2800" dirty="0"/>
              <a:t>: 7-Table Clean Structure, Automated Safety Rules, and Faster Queries.</a:t>
            </a:r>
          </a:p>
          <a:p>
            <a:endParaRPr lang="en-IN" sz="2800" dirty="0"/>
          </a:p>
          <a:p>
            <a:r>
              <a:rPr lang="en-IN" sz="2800" dirty="0"/>
              <a:t>Presented by : Arun Raju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47CF6-8A54-0998-D499-3C1C8080D1E9}"/>
              </a:ext>
            </a:extLst>
          </p:cNvPr>
          <p:cNvSpPr txBox="1"/>
          <p:nvPr/>
        </p:nvSpPr>
        <p:spPr>
          <a:xfrm>
            <a:off x="1513113" y="3240418"/>
            <a:ext cx="9040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Creating a Clean, Reliable Online Store Backend Using PostgreSQL</a:t>
            </a:r>
          </a:p>
        </p:txBody>
      </p:sp>
    </p:spTree>
    <p:extLst>
      <p:ext uri="{BB962C8B-B14F-4D97-AF65-F5344CB8AC3E}">
        <p14:creationId xmlns:p14="http://schemas.microsoft.com/office/powerpoint/2010/main" val="1202156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5CC4-9047-AA88-9F9C-959B058D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68200" cy="63137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How the Tables ConnecT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82489F-B428-9689-3EFB-05E344D64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443" y="827314"/>
            <a:ext cx="8360228" cy="593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ABBC-8D4B-5B93-07CB-2CFB7F10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40661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Normalization (Fixing Messy Data)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69C87-38D6-60AA-6BE6-5B2D343D4BAB}"/>
              </a:ext>
            </a:extLst>
          </p:cNvPr>
          <p:cNvSpPr txBox="1"/>
          <p:nvPr/>
        </p:nvSpPr>
        <p:spPr>
          <a:xfrm>
            <a:off x="103414" y="631371"/>
            <a:ext cx="1183277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* 1 NF</a:t>
            </a:r>
            <a:br>
              <a:rPr lang="en-US" sz="2000" b="1" dirty="0"/>
            </a:br>
            <a:r>
              <a:rPr lang="en-IN" sz="2000" b="1" dirty="0"/>
              <a:t>Step 1: One Value Per Cell</a:t>
            </a:r>
          </a:p>
          <a:p>
            <a:endParaRPr lang="en-IN" sz="2000" b="1" dirty="0"/>
          </a:p>
          <a:p>
            <a:r>
              <a:rPr lang="en-IN" sz="2000" b="1" dirty="0"/>
              <a:t>Rule: No lists or groups inside a single cell.</a:t>
            </a:r>
          </a:p>
          <a:p>
            <a:r>
              <a:rPr lang="en-IN" sz="2000" b="1" i="1" dirty="0"/>
              <a:t>Example:</a:t>
            </a:r>
            <a:r>
              <a:rPr lang="en-IN" sz="2000" b="1" dirty="0"/>
              <a:t> A customer's phone number or an order's items get their own separate rows, not stuffed together</a:t>
            </a:r>
          </a:p>
          <a:p>
            <a:endParaRPr lang="en-IN" sz="2000" b="1" dirty="0"/>
          </a:p>
          <a:p>
            <a:r>
              <a:rPr lang="en-IN" sz="2000" b="1" dirty="0"/>
              <a:t>* 2 NF</a:t>
            </a:r>
            <a:br>
              <a:rPr lang="en-IN" sz="2000" b="1" dirty="0"/>
            </a:br>
            <a:r>
              <a:rPr lang="en-IN" sz="2000" b="1" dirty="0"/>
              <a:t>Step 2: Isolate Item Details</a:t>
            </a:r>
          </a:p>
          <a:p>
            <a:endParaRPr lang="en-IN" sz="2000" b="1" dirty="0"/>
          </a:p>
          <a:p>
            <a:r>
              <a:rPr lang="en-IN" sz="2000" b="1" dirty="0"/>
              <a:t>Rule: Everything in a link table must belong to that specific link.</a:t>
            </a:r>
          </a:p>
          <a:p>
            <a:r>
              <a:rPr lang="en-IN" sz="2000" b="1" i="1" dirty="0"/>
              <a:t>Example:</a:t>
            </a:r>
            <a:r>
              <a:rPr lang="en-IN" sz="2000" b="1" dirty="0"/>
              <a:t> order_items only tracks things like quantity and item price. Customer details stay in the customer table</a:t>
            </a:r>
          </a:p>
          <a:p>
            <a:endParaRPr lang="en-IN" sz="2000" b="1" dirty="0"/>
          </a:p>
          <a:p>
            <a:r>
              <a:rPr lang="en-IN" sz="2000" b="1" dirty="0"/>
              <a:t>* 3 NF</a:t>
            </a:r>
          </a:p>
          <a:p>
            <a:r>
              <a:rPr lang="en-IN" sz="2000" b="1" i="1" dirty="0"/>
              <a:t>Step 3: No Chain Dependencies</a:t>
            </a:r>
          </a:p>
          <a:p>
            <a:endParaRPr lang="en-IN" sz="2000" b="1" dirty="0"/>
          </a:p>
          <a:p>
            <a:r>
              <a:rPr lang="en-IN" sz="2000" b="1" dirty="0"/>
              <a:t>Rule: Tables must only store data about their actual topic.</a:t>
            </a:r>
          </a:p>
          <a:p>
            <a:r>
              <a:rPr lang="en-IN" sz="2000" b="1" i="1" dirty="0"/>
              <a:t>Example:</a:t>
            </a:r>
            <a:r>
              <a:rPr lang="en-IN" sz="2000" b="1" dirty="0"/>
              <a:t> Category names live only in the categories table. They are never copied inside individual product rows.</a:t>
            </a:r>
            <a:endParaRPr lang="en-IN" sz="2000" b="1" i="1" dirty="0"/>
          </a:p>
          <a:p>
            <a:endParaRPr lang="en-IN" sz="2000" b="1" i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3063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4F71-320D-C8D8-0B67-D0B4ADDA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1999" cy="8382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Choosing Data Types &amp; Setting Safety Guardrails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00EFE-8688-6A1C-FB1D-0EA2575DD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9457"/>
            <a:ext cx="12191999" cy="56170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											</a:t>
            </a:r>
            <a:r>
              <a:rPr lang="en-US" b="1" u="sng" dirty="0">
                <a:solidFill>
                  <a:schemeClr val="tx1"/>
                </a:solidFill>
              </a:rPr>
              <a:t>SMART STORAGE </a:t>
            </a:r>
            <a:br>
              <a:rPr lang="en-US" b="1" dirty="0">
                <a:solidFill>
                  <a:schemeClr val="tx1"/>
                </a:solidFill>
              </a:rPr>
            </a:b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- </a:t>
            </a:r>
            <a:r>
              <a:rPr lang="en-IN" b="1" dirty="0">
                <a:solidFill>
                  <a:schemeClr val="tx1"/>
                </a:solidFill>
              </a:rPr>
              <a:t>DECIMAL(10,2):</a:t>
            </a:r>
            <a:r>
              <a:rPr lang="en-IN" dirty="0">
                <a:solidFill>
                  <a:schemeClr val="tx1"/>
                </a:solidFill>
              </a:rPr>
              <a:t> Used for prices and totals. This prevents weird rounding bugs that happen with standard number formats.</a:t>
            </a: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- TIMESTAMPTZ:</a:t>
            </a:r>
            <a:r>
              <a:rPr lang="en-IN" dirty="0">
                <a:solidFill>
                  <a:schemeClr val="tx1"/>
                </a:solidFill>
              </a:rPr>
              <a:t> Automatically captures the exact time and </a:t>
            </a:r>
            <a:r>
              <a:rPr lang="en-IN" dirty="0" err="1">
                <a:solidFill>
                  <a:schemeClr val="tx1"/>
                </a:solidFill>
              </a:rPr>
              <a:t>timezone</a:t>
            </a:r>
            <a:r>
              <a:rPr lang="en-IN" dirty="0">
                <a:solidFill>
                  <a:schemeClr val="tx1"/>
                </a:solidFill>
              </a:rPr>
              <a:t> for every order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- VARCHAR:</a:t>
            </a:r>
            <a:r>
              <a:rPr lang="en-IN" dirty="0">
                <a:solidFill>
                  <a:schemeClr val="tx1"/>
                </a:solidFill>
              </a:rPr>
              <a:t> Keeps text data neat and bounded for names and emails.</a:t>
            </a: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										</a:t>
            </a:r>
            <a:r>
              <a:rPr lang="en-IN" b="1" u="sng" dirty="0">
                <a:solidFill>
                  <a:schemeClr val="tx1"/>
                </a:solidFill>
              </a:rPr>
              <a:t>Automatic Safety Rules </a:t>
            </a:r>
            <a:br>
              <a:rPr lang="en-IN" b="1" dirty="0">
                <a:solidFill>
                  <a:schemeClr val="tx1"/>
                </a:solidFill>
              </a:rPr>
            </a:br>
            <a:br>
              <a:rPr lang="en-IN" b="1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- CHECK (price &gt; 0): </a:t>
            </a:r>
            <a:r>
              <a:rPr lang="en-IN" dirty="0">
                <a:solidFill>
                  <a:schemeClr val="tx1"/>
                </a:solidFill>
              </a:rPr>
              <a:t>The database automatically rejects any product with a 0 or negative price.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- </a:t>
            </a:r>
            <a:r>
              <a:rPr lang="en-IN" b="1" dirty="0">
                <a:solidFill>
                  <a:schemeClr val="tx1"/>
                </a:solidFill>
              </a:rPr>
              <a:t>CHECK (</a:t>
            </a:r>
            <a:r>
              <a:rPr lang="en-IN" b="1" dirty="0" err="1">
                <a:solidFill>
                  <a:schemeClr val="tx1"/>
                </a:solidFill>
              </a:rPr>
              <a:t>stock_quantity</a:t>
            </a:r>
            <a:r>
              <a:rPr lang="en-IN" b="1" dirty="0">
                <a:solidFill>
                  <a:schemeClr val="tx1"/>
                </a:solidFill>
              </a:rPr>
              <a:t> &gt;= 0): </a:t>
            </a:r>
            <a:r>
              <a:rPr lang="en-IN" dirty="0">
                <a:solidFill>
                  <a:schemeClr val="tx1"/>
                </a:solidFill>
              </a:rPr>
              <a:t>Prevents inventory counts from ever dropping below zero.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- </a:t>
            </a:r>
            <a:r>
              <a:rPr lang="en-IN" b="1" dirty="0">
                <a:solidFill>
                  <a:schemeClr val="tx1"/>
                </a:solidFill>
              </a:rPr>
              <a:t>UNIQUE (email): </a:t>
            </a:r>
            <a:r>
              <a:rPr lang="en-IN" dirty="0">
                <a:solidFill>
                  <a:schemeClr val="tx1"/>
                </a:solidFill>
              </a:rPr>
              <a:t>Blocks two different customers from signing up with the exact same email address.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7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8824-EB15-AD30-797E-1C179BDB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3820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Connecting Our Tables Together (Joins)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247DD-AAB3-67CA-0B76-CA4A61BD8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2742"/>
            <a:ext cx="12192000" cy="5344886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 INNER JOIN (Perfect Matches):</a:t>
            </a:r>
            <a:r>
              <a:rPr lang="en-IN" sz="2400" dirty="0">
                <a:solidFill>
                  <a:schemeClr val="tx1"/>
                </a:solidFill>
              </a:rPr>
              <a:t> Only pulls rows where data matches on both sides.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i="1" dirty="0">
                <a:solidFill>
                  <a:schemeClr val="tx1"/>
                </a:solidFill>
              </a:rPr>
              <a:t>Example:</a:t>
            </a:r>
            <a:r>
              <a:rPr lang="en-IN" sz="2400" dirty="0">
                <a:solidFill>
                  <a:schemeClr val="tx1"/>
                </a:solidFill>
              </a:rPr>
              <a:t> Linking active orders directly to the specific customer who placed them.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LEFT JOIN (All Left Side Data):</a:t>
            </a:r>
            <a:r>
              <a:rPr lang="en-IN" sz="2400" dirty="0">
                <a:solidFill>
                  <a:schemeClr val="tx1"/>
                </a:solidFill>
              </a:rPr>
              <a:t> Pulls </a:t>
            </a:r>
            <a:r>
              <a:rPr lang="en-IN" sz="2400" i="1" dirty="0">
                <a:solidFill>
                  <a:schemeClr val="tx1"/>
                </a:solidFill>
              </a:rPr>
              <a:t>every</a:t>
            </a:r>
            <a:r>
              <a:rPr lang="en-IN" sz="2400" dirty="0">
                <a:solidFill>
                  <a:schemeClr val="tx1"/>
                </a:solidFill>
              </a:rPr>
              <a:t> single customer, even if they have never placed an order.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i="1" dirty="0">
                <a:solidFill>
                  <a:schemeClr val="tx1"/>
                </a:solidFill>
              </a:rPr>
              <a:t>Use Case:</a:t>
            </a:r>
            <a:r>
              <a:rPr lang="en-IN" sz="2400" dirty="0">
                <a:solidFill>
                  <a:schemeClr val="tx1"/>
                </a:solidFill>
              </a:rPr>
              <a:t> Perfect for identifying inactive accounts for marketing.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RIGHT JOIN (All Right Side Data):</a:t>
            </a:r>
            <a:r>
              <a:rPr lang="en-IN" sz="2400" dirty="0">
                <a:solidFill>
                  <a:schemeClr val="tx1"/>
                </a:solidFill>
              </a:rPr>
              <a:t> Pulls all orders from the right side, ensuring no order record is left behind while matching whatever customer data exists.</a:t>
            </a:r>
          </a:p>
        </p:txBody>
      </p:sp>
    </p:spTree>
    <p:extLst>
      <p:ext uri="{BB962C8B-B14F-4D97-AF65-F5344CB8AC3E}">
        <p14:creationId xmlns:p14="http://schemas.microsoft.com/office/powerpoint/2010/main" val="146478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7D482-3DC9-4449-96D6-08B4667F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DCC1B-5CAD-A662-723F-C87EAED9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3820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Connecting Our Tables Together (Joins)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2591E-36F4-C6C7-EB44-225BBCA32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2742"/>
            <a:ext cx="12192000" cy="5344886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FULL OUTER JOIN (The Complete Map):</a:t>
            </a:r>
            <a:r>
              <a:rPr lang="en-IN" sz="2400" dirty="0">
                <a:solidFill>
                  <a:schemeClr val="tx1"/>
                </a:solidFill>
              </a:rPr>
              <a:t> Combines everything. Pulls all customers and all orders, matching them where possible and leaving blank spaces where they don’t.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CROSS JOIN (All Possible Combinations):</a:t>
            </a:r>
            <a:r>
              <a:rPr lang="en-IN" sz="2400" dirty="0">
                <a:solidFill>
                  <a:schemeClr val="tx1"/>
                </a:solidFill>
              </a:rPr>
              <a:t> Multiplies every row of the first table by every row of the second table.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i="1" dirty="0">
                <a:solidFill>
                  <a:schemeClr val="tx1"/>
                </a:solidFill>
              </a:rPr>
              <a:t>Example:</a:t>
            </a:r>
            <a:r>
              <a:rPr lang="en-IN" sz="2400" dirty="0">
                <a:solidFill>
                  <a:schemeClr val="tx1"/>
                </a:solidFill>
              </a:rPr>
              <a:t> Pairing every single product category with every single payment method to see all possible combinations.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SELF JOIN (Table Matching Itself):</a:t>
            </a:r>
            <a:r>
              <a:rPr lang="en-IN" sz="2400" dirty="0">
                <a:solidFill>
                  <a:schemeClr val="tx1"/>
                </a:solidFill>
              </a:rPr>
              <a:t> Compares a table against itself.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i="1" dirty="0">
                <a:solidFill>
                  <a:schemeClr val="tx1"/>
                </a:solidFill>
              </a:rPr>
              <a:t>Example:</a:t>
            </a:r>
            <a:r>
              <a:rPr lang="en-IN" sz="2400" dirty="0">
                <a:solidFill>
                  <a:schemeClr val="tx1"/>
                </a:solidFill>
              </a:rPr>
              <a:t> Looking at the customers table to find distinct pairs of users who live in the exact same city.</a:t>
            </a:r>
          </a:p>
          <a:p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907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8C81-2708-0F03-8E21-450D17BC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3000"/>
          </a:xfrm>
        </p:spPr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Calculating Business Metrics &amp;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F38AE-DD8F-C142-F363-6AD47F38E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90698"/>
            <a:ext cx="12192000" cy="4692348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SUM &amp; AVG:</a:t>
            </a:r>
            <a:r>
              <a:rPr lang="en-IN" sz="2400" dirty="0">
                <a:solidFill>
                  <a:schemeClr val="tx1"/>
                </a:solidFill>
              </a:rPr>
              <a:t> Used to calculate total store revenue and the average price of products in our catalog.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GROUP BY:</a:t>
            </a:r>
            <a:r>
              <a:rPr lang="en-IN" sz="2400" dirty="0">
                <a:solidFill>
                  <a:schemeClr val="tx1"/>
                </a:solidFill>
              </a:rPr>
              <a:t> Bundles rows together to calculate totals per category or per customer.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HAVING Rule:</a:t>
            </a:r>
            <a:r>
              <a:rPr lang="en-IN" sz="2400" dirty="0">
                <a:solidFill>
                  <a:schemeClr val="tx1"/>
                </a:solidFill>
              </a:rPr>
              <a:t> Filters our grouped data. For example, ignoring small orders and only looking at big spenders.</a:t>
            </a:r>
          </a:p>
          <a:p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7809F-5004-CC8D-B0AE-A34FB09D3F0B}"/>
              </a:ext>
            </a:extLst>
          </p:cNvPr>
          <p:cNvSpPr txBox="1"/>
          <p:nvPr/>
        </p:nvSpPr>
        <p:spPr>
          <a:xfrm>
            <a:off x="-1" y="1143001"/>
            <a:ext cx="7957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3600" b="1" dirty="0">
                <a:solidFill>
                  <a:schemeClr val="accent6"/>
                </a:solidFill>
              </a:rPr>
              <a:t>The Math Behind the Store</a:t>
            </a:r>
          </a:p>
        </p:txBody>
      </p:sp>
    </p:spTree>
    <p:extLst>
      <p:ext uri="{BB962C8B-B14F-4D97-AF65-F5344CB8AC3E}">
        <p14:creationId xmlns:p14="http://schemas.microsoft.com/office/powerpoint/2010/main" val="1979522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E1F4-4D02-9904-C005-3D6D94E1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174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Subqueries (Queries Inside Queries)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7A90-3547-4907-486F-8ABF34067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43" y="979714"/>
            <a:ext cx="12028714" cy="5693229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chemeClr val="tx1"/>
                </a:solidFill>
              </a:rPr>
              <a:t>Smart Filtering with Subqueries</a:t>
            </a:r>
            <a:br>
              <a:rPr lang="en-IN" sz="2400" dirty="0">
                <a:solidFill>
                  <a:schemeClr val="tx1"/>
                </a:solidFill>
              </a:rPr>
            </a:br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Queries Inside Queries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What it is:</a:t>
            </a:r>
            <a:r>
              <a:rPr lang="en-IN" sz="2400" dirty="0">
                <a:solidFill>
                  <a:schemeClr val="tx1"/>
                </a:solidFill>
              </a:rPr>
              <a:t> Placing a temporary query inside your main query to handle dynamic data.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The Problem:</a:t>
            </a:r>
            <a:r>
              <a:rPr lang="en-IN" sz="2400" dirty="0">
                <a:solidFill>
                  <a:schemeClr val="tx1"/>
                </a:solidFill>
              </a:rPr>
              <a:t> We want to find products that cost more than our average price. But our average price changes every time we add a new item!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The Solution:</a:t>
            </a:r>
            <a:r>
              <a:rPr lang="en-IN" sz="2400" dirty="0">
                <a:solidFill>
                  <a:schemeClr val="tx1"/>
                </a:solidFill>
              </a:rPr>
              <a:t> Use a subquery to calculate the average price first, then hand that number to the outer query.</a:t>
            </a:r>
          </a:p>
        </p:txBody>
      </p:sp>
    </p:spTree>
    <p:extLst>
      <p:ext uri="{BB962C8B-B14F-4D97-AF65-F5344CB8AC3E}">
        <p14:creationId xmlns:p14="http://schemas.microsoft.com/office/powerpoint/2010/main" val="87496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A9D7-34C1-219F-A0A5-E359D7D8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174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Database Speed &amp; Performance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34F61-64EB-A942-2604-92E848D30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371"/>
            <a:ext cx="12191999" cy="5714999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Making Queries Faster (Indexing)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b="1" dirty="0">
                <a:solidFill>
                  <a:schemeClr val="tx1"/>
                </a:solidFill>
              </a:rPr>
              <a:t>The Problem:</a:t>
            </a:r>
            <a:r>
              <a:rPr lang="en-IN" sz="2400" dirty="0">
                <a:solidFill>
                  <a:schemeClr val="tx1"/>
                </a:solidFill>
              </a:rPr>
              <a:t> Without indexes, PostgreSQL has to do a "Sequential Scan” meaning it reads every single row in a table from top to bottom just to find one thing. This slows down drastically as the store grows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The Solution:</a:t>
            </a:r>
            <a:r>
              <a:rPr lang="en-IN" sz="2400" dirty="0">
                <a:solidFill>
                  <a:schemeClr val="tx1"/>
                </a:solidFill>
              </a:rPr>
              <a:t> We built B-Tree Indexes. Think of this like the index at the back of a textbook; the database jumps straight to the correct page.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What We Checked:</a:t>
            </a:r>
            <a:r>
              <a:rPr lang="en-IN" sz="2400" dirty="0">
                <a:solidFill>
                  <a:schemeClr val="tx1"/>
                </a:solidFill>
              </a:rPr>
              <a:t> We ran EXPLAIN ANALYZE before and after to physically read the speed improvements.</a:t>
            </a:r>
          </a:p>
        </p:txBody>
      </p:sp>
    </p:spTree>
    <p:extLst>
      <p:ext uri="{BB962C8B-B14F-4D97-AF65-F5344CB8AC3E}">
        <p14:creationId xmlns:p14="http://schemas.microsoft.com/office/powerpoint/2010/main" val="5760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134E-1BBF-4A21-6848-B0631940A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40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Creating Shortcuts with Database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C31FA-3ACA-99C2-AEC6-85CCD7F1C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246914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What are Views?</a:t>
            </a:r>
            <a:br>
              <a:rPr lang="en-IN" sz="2400" dirty="0"/>
            </a:br>
            <a:r>
              <a:rPr lang="en-IN" sz="2400" b="1" dirty="0">
                <a:solidFill>
                  <a:schemeClr val="tx1"/>
                </a:solidFill>
              </a:rPr>
              <a:t>Virtual Tables:</a:t>
            </a:r>
            <a:r>
              <a:rPr lang="en-IN" sz="2400" dirty="0">
                <a:solidFill>
                  <a:schemeClr val="tx1"/>
                </a:solidFill>
              </a:rPr>
              <a:t> A view saves a massive, complex query inside the database so you can call it with a simple SELECT * FROM view_name;.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Why Use Them:</a:t>
            </a:r>
            <a:r>
              <a:rPr lang="en-IN" sz="2400" dirty="0">
                <a:solidFill>
                  <a:schemeClr val="tx1"/>
                </a:solidFill>
              </a:rPr>
              <a:t> * Cleans up code for frontend apps or Power BI dashboards.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Hides background table complexity from unauthorized users.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Our 3 Custom Views:</a:t>
            </a:r>
            <a:r>
              <a:rPr lang="en-IN" sz="2400" dirty="0">
                <a:solidFill>
                  <a:schemeClr val="tx1"/>
                </a:solidFill>
              </a:rPr>
              <a:t> Complete Order Summaries, Customer Purchase Profiles, and Live Inventory Trackers.</a:t>
            </a:r>
          </a:p>
        </p:txBody>
      </p:sp>
    </p:spTree>
    <p:extLst>
      <p:ext uri="{BB962C8B-B14F-4D97-AF65-F5344CB8AC3E}">
        <p14:creationId xmlns:p14="http://schemas.microsoft.com/office/powerpoint/2010/main" val="726428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26F3-ED63-0021-D127-47F836F3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45029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Safe Checkouts Using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5AFC0-A426-7B2D-4202-9C286AB76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2675"/>
            <a:ext cx="12192000" cy="548761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The Risk:</a:t>
            </a:r>
            <a:r>
              <a:rPr lang="en-IN" sz="2400" dirty="0">
                <a:solidFill>
                  <a:schemeClr val="tx1"/>
                </a:solidFill>
              </a:rPr>
              <a:t> What happens if a customer places an order, the system subtracts the inventory stock, but the payment gateway crashes? Your database gets corrupted.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The Safe Way (ACID):</a:t>
            </a:r>
            <a:r>
              <a:rPr lang="en-IN" sz="2400" dirty="0">
                <a:solidFill>
                  <a:schemeClr val="tx1"/>
                </a:solidFill>
              </a:rPr>
              <a:t> Transactions ensure that a bundle of SQL commands must </a:t>
            </a:r>
            <a:r>
              <a:rPr lang="en-IN" sz="2400" i="1" dirty="0">
                <a:solidFill>
                  <a:schemeClr val="tx1"/>
                </a:solidFill>
              </a:rPr>
              <a:t>all</a:t>
            </a:r>
            <a:r>
              <a:rPr lang="en-IN" sz="2400" dirty="0">
                <a:solidFill>
                  <a:schemeClr val="tx1"/>
                </a:solidFill>
              </a:rPr>
              <a:t> succeed together, or the whole thing fails completely.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BEGIN &amp; COMMIT:</a:t>
            </a:r>
            <a:r>
              <a:rPr lang="en-IN" sz="2400" dirty="0">
                <a:solidFill>
                  <a:schemeClr val="tx1"/>
                </a:solidFill>
              </a:rPr>
              <a:t> Opens the safety window and saves changes only if everything works perfectly.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ROLLBACK:</a:t>
            </a:r>
            <a:r>
              <a:rPr lang="en-IN" sz="2400" dirty="0">
                <a:solidFill>
                  <a:schemeClr val="tx1"/>
                </a:solidFill>
              </a:rPr>
              <a:t> Instantly undoes everything if an unexpected error occurs mid-way.</a:t>
            </a:r>
          </a:p>
        </p:txBody>
      </p:sp>
    </p:spTree>
    <p:extLst>
      <p:ext uri="{BB962C8B-B14F-4D97-AF65-F5344CB8AC3E}">
        <p14:creationId xmlns:p14="http://schemas.microsoft.com/office/powerpoint/2010/main" val="1335637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199B-E37B-2CE4-8B8A-7F14E1E2C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794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Smart Automation with Stored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D858-4D5C-FA33-0C33-F52C695A0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3629"/>
            <a:ext cx="12104914" cy="544285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Why Use Procedures?</a:t>
            </a:r>
            <a:br>
              <a:rPr lang="en-IN" sz="2400" dirty="0"/>
            </a:br>
            <a:r>
              <a:rPr lang="en-IN" sz="2400" b="1" dirty="0">
                <a:solidFill>
                  <a:schemeClr val="tx1"/>
                </a:solidFill>
              </a:rPr>
              <a:t>What it is:</a:t>
            </a:r>
            <a:r>
              <a:rPr lang="en-IN" sz="2400" dirty="0">
                <a:solidFill>
                  <a:schemeClr val="tx1"/>
                </a:solidFill>
              </a:rPr>
              <a:t> A stored procedure is a custom script saved inside the database that runs multiple steps in a specific order with a single call.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The place_order Workflow:</a:t>
            </a:r>
            <a:r>
              <a:rPr lang="en-IN" sz="2400" dirty="0">
                <a:solidFill>
                  <a:schemeClr val="tx1"/>
                </a:solidFill>
              </a:rPr>
              <a:t> 1. Checks if we have enough stock. 2. Creates the order and calculates the math. 3. Subtracts items from inventory and logs the payment.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The Benefit:</a:t>
            </a:r>
            <a:r>
              <a:rPr lang="en-IN" sz="2400" dirty="0">
                <a:solidFill>
                  <a:schemeClr val="tx1"/>
                </a:solidFill>
              </a:rPr>
              <a:t> Instead of writing four separate commands in an app, you just run CALL place_order(...) and the database handles the rest instantly.</a:t>
            </a:r>
          </a:p>
          <a:p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759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127E-1DF8-9BC2-CED5-2739D59A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1743"/>
          </a:xfrm>
        </p:spPr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Custom Math &amp; Calculations (Functions)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9067E-E1A7-57F1-AD89-6390B9D60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5914"/>
            <a:ext cx="12050485" cy="5693229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Procedures vs. Functions :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	The Difference:</a:t>
            </a:r>
            <a:r>
              <a:rPr lang="en-IN" sz="2400" dirty="0">
                <a:solidFill>
                  <a:schemeClr val="tx1"/>
                </a:solidFill>
              </a:rPr>
              <a:t> While procedures </a:t>
            </a:r>
            <a:r>
              <a:rPr lang="en-IN" sz="2400" i="1" dirty="0">
                <a:solidFill>
                  <a:schemeClr val="tx1"/>
                </a:solidFill>
              </a:rPr>
              <a:t>do tasks</a:t>
            </a:r>
            <a:r>
              <a:rPr lang="en-IN" sz="2400" dirty="0">
                <a:solidFill>
                  <a:schemeClr val="tx1"/>
                </a:solidFill>
              </a:rPr>
              <a:t>, functions </a:t>
            </a:r>
            <a:r>
              <a:rPr lang="en-IN" sz="2400" i="1" dirty="0">
                <a:solidFill>
                  <a:schemeClr val="tx1"/>
                </a:solidFill>
              </a:rPr>
              <a:t>calculate data and 	return an exact answer on the spot</a:t>
            </a:r>
            <a:r>
              <a:rPr lang="en-IN" sz="2400" dirty="0">
                <a:solidFill>
                  <a:schemeClr val="tx1"/>
                </a:solidFill>
              </a:rPr>
              <a:t>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Our 2 Custom Functions:</a:t>
            </a:r>
            <a:endParaRPr lang="en-I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	get_customer_age: Automatically calculates a user's current 	age based on 	their date of birth.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	get_category_revenue: Instantly calculates total sales for an 	entire 	department while ignoring cancelled orders.</a:t>
            </a:r>
          </a:p>
          <a:p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655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C11C-6739-F53C-2634-7A09A5DB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38200"/>
          </a:xfrm>
        </p:spPr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Event-Driven Automation (Triggers)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AD8F6-01C5-01B6-9C10-4DA5867EB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30086"/>
            <a:ext cx="12061370" cy="554082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 Invisible Security Guard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What it is:</a:t>
            </a:r>
            <a:r>
              <a:rPr lang="en-IN" sz="2400" dirty="0">
                <a:solidFill>
                  <a:schemeClr val="tx1"/>
                </a:solidFill>
              </a:rPr>
              <a:t> A trigger listens for actions like updates or deletions and automatically fires a security script in response.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Trigger 1: Automatic Audit Log (</a:t>
            </a:r>
            <a:r>
              <a:rPr lang="en-IN" sz="2400" dirty="0" err="1">
                <a:solidFill>
                  <a:schemeClr val="tx1"/>
                </a:solidFill>
              </a:rPr>
              <a:t>trg_order_status_change</a:t>
            </a:r>
            <a:r>
              <a:rPr lang="en-IN" sz="2400" dirty="0">
                <a:solidFill>
                  <a:schemeClr val="tx1"/>
                </a:solidFill>
              </a:rPr>
              <a:t>)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Anytime an order status changes (e.g., from 'pending' to 'shipped'), it instantly logs the old status, new status, and timestamp to a separate audit table.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Trigger 2: Fraud &amp; Deletion Protection (</a:t>
            </a:r>
            <a:r>
              <a:rPr lang="en-IN" sz="2400" dirty="0" err="1">
                <a:solidFill>
                  <a:schemeClr val="tx1"/>
                </a:solidFill>
              </a:rPr>
              <a:t>trg_prevent_delete_delivered</a:t>
            </a:r>
            <a:r>
              <a:rPr lang="en-IN" sz="2400" dirty="0">
                <a:solidFill>
                  <a:schemeClr val="tx1"/>
                </a:solidFill>
              </a:rPr>
              <a:t>)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Intercepts and physically blocks anyone from deleting an order that has already been delivered.</a:t>
            </a:r>
          </a:p>
        </p:txBody>
      </p:sp>
    </p:spTree>
    <p:extLst>
      <p:ext uri="{BB962C8B-B14F-4D97-AF65-F5344CB8AC3E}">
        <p14:creationId xmlns:p14="http://schemas.microsoft.com/office/powerpoint/2010/main" val="4014506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E985-1EAC-79B9-C4F9-BC25E4F8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400"/>
          </a:xfrm>
        </p:spPr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Project Summary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C4294-EB7F-4386-098A-B37A13586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5029"/>
            <a:ext cx="11952514" cy="5399315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</a:rPr>
              <a:t>Built a fully normalized, secure, and production-ready e-commerce database from scratch.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Shielded data integrity directly at the storage layer using constraints, transactions, and triggers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Optimized query speeds via strategic B-Tree indexing for a seamless consumer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83352090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143</TotalTime>
  <Words>1305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Slice</vt:lpstr>
      <vt:lpstr>Relational Database Design &amp; Implementation for an Online Retail Store</vt:lpstr>
      <vt:lpstr>How the Tables ConnecT</vt:lpstr>
      <vt:lpstr>Normalization (Fixing Messy Data)</vt:lpstr>
      <vt:lpstr>Choosing Data Types &amp; Setting Safety Guardrails</vt:lpstr>
      <vt:lpstr>Connecting Our Tables Together (Joins)</vt:lpstr>
      <vt:lpstr>Connecting Our Tables Together (Joins)</vt:lpstr>
      <vt:lpstr>Calculating Business Metrics &amp; Summaries</vt:lpstr>
      <vt:lpstr>Subqueries (Queries Inside Queries)</vt:lpstr>
      <vt:lpstr>Database Speed &amp; Performance Tuning</vt:lpstr>
      <vt:lpstr>Creating Shortcuts with Database Views</vt:lpstr>
      <vt:lpstr>Safe Checkouts Using Transactions</vt:lpstr>
      <vt:lpstr>Smart Automation with Stored Procedures</vt:lpstr>
      <vt:lpstr>Custom Math &amp; Calculations (Functions)</vt:lpstr>
      <vt:lpstr>Event-Driven Automation (Triggers)</vt:lpstr>
      <vt:lpstr>Project Summary &amp;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Raju</dc:creator>
  <cp:lastModifiedBy>Arun Raju</cp:lastModifiedBy>
  <cp:revision>1</cp:revision>
  <dcterms:created xsi:type="dcterms:W3CDTF">2026-06-05T16:28:22Z</dcterms:created>
  <dcterms:modified xsi:type="dcterms:W3CDTF">2026-06-05T18:51:55Z</dcterms:modified>
</cp:coreProperties>
</file>